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48A87A34-81AB-432B-8DAE-1953F412C126}" type="datetimeFigureOut">
              <a:rPr lang="en-US" dirty="0"/>
              <a:t>7/30/2026</a:t>
            </a:fld>
            <a:endParaRPr lang="en-US" dirty="0"/>
          </a:p>
        </p:txBody>
      </p:sp>
      <p:sp>
        <p:nvSpPr>
          <p:cNvPr id="5" name="Footer Placeholder 4"/>
          <p:cNvSpPr>
            <a:spLocks noGrp="1"/>
          </p:cNvSpPr>
          <p:nvPr>
            <p:ph type="ftr" sz="quarter" idx="11"/>
          </p:nvPr>
        </p:nvSpPr>
        <p:spPr>
          <a:xfrm>
            <a:off x="1371600" y="4323845"/>
            <a:ext cx="6400800" cy="365125"/>
          </a:xfrm>
        </p:spPr>
        <p:txBody>
          <a:bodyPr/>
          <a:lstStyle/>
          <a:p>
            <a:endParaRPr lang="en-US" dirty="0"/>
          </a:p>
        </p:txBody>
      </p:sp>
      <p:sp>
        <p:nvSpPr>
          <p:cNvPr id="6" name="Slide Number Placeholder 5"/>
          <p:cNvSpPr>
            <a:spLocks noGrp="1"/>
          </p:cNvSpPr>
          <p:nvPr>
            <p:ph type="sldNum" sz="quarter" idx="12"/>
          </p:nvPr>
        </p:nvSpPr>
        <p:spPr>
          <a:xfrm>
            <a:off x="8077200" y="1430866"/>
            <a:ext cx="2743200"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7/30/2026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48A87A34-81AB-432B-8DAE-1953F412C126}" type="datetimeFigureOut">
              <a:rPr lang="en-US" dirty="0"/>
              <a:pPr/>
              <a:t>7/30/2026</a:t>
            </a:fld>
            <a:endParaRPr lang="en-US" dirty="0"/>
          </a:p>
        </p:txBody>
      </p:sp>
      <p:sp>
        <p:nvSpPr>
          <p:cNvPr id="5" name="Footer Placeholder 4"/>
          <p:cNvSpPr>
            <a:spLocks noGrp="1"/>
          </p:cNvSpPr>
          <p:nvPr>
            <p:ph type="ftr" sz="quarter" idx="11"/>
          </p:nvPr>
        </p:nvSpPr>
        <p:spPr>
          <a:xfrm>
            <a:off x="685800" y="381001"/>
            <a:ext cx="6991492" cy="364065"/>
          </a:xfrm>
        </p:spPr>
        <p:txBody>
          <a:bodyPr/>
          <a:lstStyle/>
          <a:p>
            <a:endParaRPr lang="en-US" dirty="0"/>
          </a:p>
        </p:txBody>
      </p:sp>
      <p:sp>
        <p:nvSpPr>
          <p:cNvPr id="6" name="Slide Number Placeholder 5"/>
          <p:cNvSpPr>
            <a:spLocks noGrp="1"/>
          </p:cNvSpPr>
          <p:nvPr>
            <p:ph type="sldNum" sz="quarter" idx="12"/>
          </p:nvPr>
        </p:nvSpPr>
        <p:spPr>
          <a:xfrm>
            <a:off x="10862452" y="381000"/>
            <a:ext cx="643748"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7/30/2026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0" y="3132666"/>
            <a:ext cx="5311775"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132666"/>
            <a:ext cx="5334000"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7/30/2026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7/30/2026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7/30/2026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7/30/2026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7/30/2026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7/30/2026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48A87A34-81AB-432B-8DAE-1953F412C126}" type="datetimeFigureOut">
              <a:rPr lang="en-US" dirty="0"/>
              <a:pPr/>
              <a:t>7/30/2026</a:t>
            </a:fld>
            <a:endParaRPr lang="en-US" dirty="0"/>
          </a:p>
        </p:txBody>
      </p:sp>
      <p:sp>
        <p:nvSpPr>
          <p:cNvPr id="6" name="Footer Placeholder 5"/>
          <p:cNvSpPr>
            <a:spLocks noGrp="1"/>
          </p:cNvSpPr>
          <p:nvPr>
            <p:ph type="ftr" sz="quarter" idx="11"/>
          </p:nvPr>
        </p:nvSpPr>
        <p:spPr>
          <a:xfrm>
            <a:off x="685800" y="379941"/>
            <a:ext cx="6991492" cy="365125"/>
          </a:xfrm>
        </p:spPr>
        <p:txBody>
          <a:bodyPr/>
          <a:lstStyle/>
          <a:p>
            <a:endParaRPr lang="en-US" dirty="0"/>
          </a:p>
        </p:txBody>
      </p:sp>
      <p:sp>
        <p:nvSpPr>
          <p:cNvPr id="7" name="Slide Number Placeholder 6"/>
          <p:cNvSpPr>
            <a:spLocks noGrp="1"/>
          </p:cNvSpPr>
          <p:nvPr>
            <p:ph type="sldNum" sz="quarter" idx="12"/>
          </p:nvPr>
        </p:nvSpPr>
        <p:spPr>
          <a:xfrm>
            <a:off x="10862452" y="381000"/>
            <a:ext cx="643748"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3" name="Picture 12"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48A87A34-81AB-432B-8DAE-1953F412C126}" type="datetimeFigureOut">
              <a:rPr lang="en-US" dirty="0"/>
              <a:pPr/>
              <a:t>7/30/2026</a:t>
            </a:fld>
            <a:endParaRPr lang="en-US" dirty="0"/>
          </a:p>
        </p:txBody>
      </p:sp>
      <p:sp>
        <p:nvSpPr>
          <p:cNvPr id="6" name="Footer Placeholder 5"/>
          <p:cNvSpPr>
            <a:spLocks noGrp="1"/>
          </p:cNvSpPr>
          <p:nvPr>
            <p:ph type="ftr" sz="quarter" idx="11"/>
          </p:nvPr>
        </p:nvSpPr>
        <p:spPr>
          <a:xfrm>
            <a:off x="685800" y="379941"/>
            <a:ext cx="6991492" cy="365125"/>
          </a:xfrm>
        </p:spPr>
        <p:txBody>
          <a:bodyPr/>
          <a:lstStyle/>
          <a:p>
            <a:endParaRPr lang="en-US" dirty="0"/>
          </a:p>
        </p:txBody>
      </p:sp>
      <p:sp>
        <p:nvSpPr>
          <p:cNvPr id="7" name="Slide Number Placeholder 6"/>
          <p:cNvSpPr>
            <a:spLocks noGrp="1"/>
          </p:cNvSpPr>
          <p:nvPr>
            <p:ph type="sldNum" sz="quarter" idx="12"/>
          </p:nvPr>
        </p:nvSpPr>
        <p:spPr>
          <a:xfrm>
            <a:off x="10862452" y="381000"/>
            <a:ext cx="643748" cy="365125"/>
          </a:xfrm>
        </p:spPr>
        <p:txBody>
          <a:bodyPr/>
          <a:lstStyle/>
          <a:p>
            <a:fld id="{6D22F896-40B5-4ADD-8801-0D06FADFA095}" type="slidenum">
              <a:rPr lang="en-US" dirty="0"/>
              <a:t>‹#›</a:t>
            </a:fld>
            <a:endParaRPr lang="en-US" dirty="0"/>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48A87A34-81AB-432B-8DAE-1953F412C126}" type="datetimeFigureOut">
              <a:rPr lang="en-US" dirty="0"/>
              <a:pPr/>
              <a:t>7/30/2026</a:t>
            </a:fld>
            <a:endParaRPr lang="en-US" dirty="0"/>
          </a:p>
        </p:txBody>
      </p:sp>
      <p:sp>
        <p:nvSpPr>
          <p:cNvPr id="6" name="Footer Placeholder 5"/>
          <p:cNvSpPr>
            <a:spLocks noGrp="1"/>
          </p:cNvSpPr>
          <p:nvPr>
            <p:ph type="ftr" sz="quarter" idx="11"/>
          </p:nvPr>
        </p:nvSpPr>
        <p:spPr>
          <a:xfrm>
            <a:off x="685800" y="378883"/>
            <a:ext cx="6991492" cy="365125"/>
          </a:xfrm>
        </p:spPr>
        <p:txBody>
          <a:bodyPr/>
          <a:lstStyle/>
          <a:p>
            <a:endParaRPr lang="en-US" dirty="0"/>
          </a:p>
        </p:txBody>
      </p:sp>
      <p:sp>
        <p:nvSpPr>
          <p:cNvPr id="7" name="Slide Number Placeholder 6"/>
          <p:cNvSpPr>
            <a:spLocks noGrp="1"/>
          </p:cNvSpPr>
          <p:nvPr>
            <p:ph type="sldNum" sz="quarter" idx="12"/>
          </p:nvPr>
        </p:nvSpPr>
        <p:spPr>
          <a:xfrm>
            <a:off x="10862452" y="381000"/>
            <a:ext cx="643748"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7/30/2026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7/30/2026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7/30/2026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48A87A34-81AB-432B-8DAE-1953F412C126}" type="datetimeFigureOut">
              <a:rPr lang="en-US" dirty="0"/>
              <a:pPr/>
              <a:t>7/30/2026</a:t>
            </a:fld>
            <a:endParaRPr lang="en-US" dirty="0"/>
          </a:p>
        </p:txBody>
      </p:sp>
      <p:sp>
        <p:nvSpPr>
          <p:cNvPr id="5" name="Footer Placeholder 4"/>
          <p:cNvSpPr>
            <a:spLocks noGrp="1"/>
          </p:cNvSpPr>
          <p:nvPr>
            <p:ph type="ftr" sz="quarter" idx="11"/>
          </p:nvPr>
        </p:nvSpPr>
        <p:spPr>
          <a:xfrm>
            <a:off x="685800" y="381000"/>
            <a:ext cx="6991492" cy="365125"/>
          </a:xfrm>
        </p:spPr>
        <p:txBody>
          <a:bodyPr/>
          <a:lstStyle/>
          <a:p>
            <a:endParaRPr lang="en-US" dirty="0"/>
          </a:p>
        </p:txBody>
      </p:sp>
      <p:sp>
        <p:nvSpPr>
          <p:cNvPr id="6" name="Slide Number Placeholder 5"/>
          <p:cNvSpPr>
            <a:spLocks noGrp="1"/>
          </p:cNvSpPr>
          <p:nvPr>
            <p:ph type="sldNum" sz="quarter" idx="12"/>
          </p:nvPr>
        </p:nvSpPr>
        <p:spPr>
          <a:xfrm>
            <a:off x="10862452" y="381000"/>
            <a:ext cx="643748" cy="365125"/>
          </a:xfrm>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C0-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7/30/2026</a:t>
            </a:fld>
            <a:endParaRPr lang="en-US" dirty="0"/>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E7E18B-A468-1D19-7DAC-B66375CC4D3B}"/>
              </a:ext>
            </a:extLst>
          </p:cNvPr>
          <p:cNvSpPr>
            <a:spLocks noGrp="1"/>
          </p:cNvSpPr>
          <p:nvPr>
            <p:ph type="ctrTitle"/>
          </p:nvPr>
        </p:nvSpPr>
        <p:spPr/>
        <p:txBody>
          <a:bodyPr/>
          <a:lstStyle/>
          <a:p>
            <a:r>
              <a:rPr lang="en-US"/>
              <a:t>OOP ANALYSIS(LSM)</a:t>
            </a:r>
            <a:endParaRPr lang="en-KE" dirty="0"/>
          </a:p>
        </p:txBody>
      </p:sp>
      <p:sp>
        <p:nvSpPr>
          <p:cNvPr id="3" name="Subtitle 2">
            <a:extLst>
              <a:ext uri="{FF2B5EF4-FFF2-40B4-BE49-F238E27FC236}">
                <a16:creationId xmlns:a16="http://schemas.microsoft.com/office/drawing/2014/main" id="{174FDCFF-D24C-4335-C99A-CC61B3FEE467}"/>
              </a:ext>
            </a:extLst>
          </p:cNvPr>
          <p:cNvSpPr>
            <a:spLocks noGrp="1"/>
          </p:cNvSpPr>
          <p:nvPr>
            <p:ph type="subTitle" idx="1"/>
          </p:nvPr>
        </p:nvSpPr>
        <p:spPr>
          <a:xfrm>
            <a:off x="1371600" y="3632201"/>
            <a:ext cx="9448800" cy="1113970"/>
          </a:xfrm>
        </p:spPr>
        <p:txBody>
          <a:bodyPr>
            <a:normAutofit lnSpcReduction="10000"/>
          </a:bodyPr>
          <a:lstStyle/>
          <a:p>
            <a:r>
              <a:rPr lang="en-US" dirty="0"/>
              <a:t>Fabius Kamau  SCT121-0470/2025</a:t>
            </a:r>
          </a:p>
          <a:p>
            <a:r>
              <a:rPr lang="en-US" dirty="0"/>
              <a:t>Kelvin Munywoki  SCT121 -0291/2025</a:t>
            </a:r>
          </a:p>
          <a:p>
            <a:r>
              <a:rPr lang="en-US" dirty="0"/>
              <a:t>Mitchelle  Mokaya SCT121-0529/2025</a:t>
            </a:r>
          </a:p>
          <a:p>
            <a:endParaRPr lang="en-KE" dirty="0"/>
          </a:p>
        </p:txBody>
      </p:sp>
    </p:spTree>
    <p:extLst>
      <p:ext uri="{BB962C8B-B14F-4D97-AF65-F5344CB8AC3E}">
        <p14:creationId xmlns:p14="http://schemas.microsoft.com/office/powerpoint/2010/main" val="41559269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7DAEE3-BF97-769E-19E0-8229B94CCDC5}"/>
              </a:ext>
            </a:extLst>
          </p:cNvPr>
          <p:cNvSpPr>
            <a:spLocks noGrp="1"/>
          </p:cNvSpPr>
          <p:nvPr>
            <p:ph type="title"/>
          </p:nvPr>
        </p:nvSpPr>
        <p:spPr/>
        <p:txBody>
          <a:bodyPr/>
          <a:lstStyle/>
          <a:p>
            <a:r>
              <a:rPr lang="en-US" dirty="0"/>
              <a:t>1.INTRODUCTION </a:t>
            </a:r>
            <a:endParaRPr lang="en-KE" dirty="0"/>
          </a:p>
        </p:txBody>
      </p:sp>
      <p:sp>
        <p:nvSpPr>
          <p:cNvPr id="3" name="Content Placeholder 2">
            <a:extLst>
              <a:ext uri="{FF2B5EF4-FFF2-40B4-BE49-F238E27FC236}">
                <a16:creationId xmlns:a16="http://schemas.microsoft.com/office/drawing/2014/main" id="{AE91105F-3A4B-CB00-9817-CC4D75F2E125}"/>
              </a:ext>
            </a:extLst>
          </p:cNvPr>
          <p:cNvSpPr>
            <a:spLocks noGrp="1"/>
          </p:cNvSpPr>
          <p:nvPr>
            <p:ph idx="1"/>
          </p:nvPr>
        </p:nvSpPr>
        <p:spPr/>
        <p:txBody>
          <a:bodyPr/>
          <a:lstStyle/>
          <a:p>
            <a:r>
              <a:rPr lang="en-US" dirty="0"/>
              <a:t>JKUAT intends to develop a Student Information System that integrates the Learning Management System (LMS) with the Student Portal. The system will enable lecturers to upload learning materials, assignments, CATs, and examination marks, while students will register units, access learning materials, complete assessments, and view their grades. The system should synchronize information between the LMS and the Student Portal.</a:t>
            </a:r>
            <a:endParaRPr lang="en-KE" dirty="0"/>
          </a:p>
        </p:txBody>
      </p:sp>
    </p:spTree>
    <p:extLst>
      <p:ext uri="{BB962C8B-B14F-4D97-AF65-F5344CB8AC3E}">
        <p14:creationId xmlns:p14="http://schemas.microsoft.com/office/powerpoint/2010/main" val="11575056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546824-4E7F-D8DC-6A4F-49413EFC58D2}"/>
              </a:ext>
            </a:extLst>
          </p:cNvPr>
          <p:cNvSpPr>
            <a:spLocks noGrp="1"/>
          </p:cNvSpPr>
          <p:nvPr>
            <p:ph type="title"/>
          </p:nvPr>
        </p:nvSpPr>
        <p:spPr/>
        <p:txBody>
          <a:bodyPr/>
          <a:lstStyle/>
          <a:p>
            <a:r>
              <a:rPr lang="en-US" dirty="0"/>
              <a:t>2.PROBLEM STATEMENT </a:t>
            </a:r>
            <a:endParaRPr lang="en-KE" dirty="0"/>
          </a:p>
        </p:txBody>
      </p:sp>
      <p:sp>
        <p:nvSpPr>
          <p:cNvPr id="3" name="Content Placeholder 2">
            <a:extLst>
              <a:ext uri="{FF2B5EF4-FFF2-40B4-BE49-F238E27FC236}">
                <a16:creationId xmlns:a16="http://schemas.microsoft.com/office/drawing/2014/main" id="{5439F846-5D9B-FF50-2998-0417B91ED6DE}"/>
              </a:ext>
            </a:extLst>
          </p:cNvPr>
          <p:cNvSpPr>
            <a:spLocks noGrp="1"/>
          </p:cNvSpPr>
          <p:nvPr>
            <p:ph idx="1"/>
          </p:nvPr>
        </p:nvSpPr>
        <p:spPr/>
        <p:txBody>
          <a:bodyPr/>
          <a:lstStyle/>
          <a:p>
            <a:r>
              <a:rPr lang="en-US" dirty="0"/>
              <a:t>The university needs an integrated system where:</a:t>
            </a:r>
          </a:p>
          <a:p>
            <a:r>
              <a:rPr lang="en-US" dirty="0"/>
              <a:t> Students register units through the Student Portal.</a:t>
            </a:r>
          </a:p>
          <a:p>
            <a:r>
              <a:rPr lang="en-US" dirty="0"/>
              <a:t> Registered units automatically appear in the LMS.</a:t>
            </a:r>
          </a:p>
          <a:p>
            <a:r>
              <a:rPr lang="en-US" dirty="0"/>
              <a:t>Lecturers upload notes, assignments, CATs, and examination marks in the LMS.</a:t>
            </a:r>
          </a:p>
          <a:p>
            <a:r>
              <a:rPr lang="en-US" dirty="0"/>
              <a:t> Students access learning materials and complete assessments through the LMS.</a:t>
            </a:r>
          </a:p>
          <a:p>
            <a:r>
              <a:rPr lang="en-US" dirty="0"/>
              <a:t> Marks entered by lecturers automatically appear on the Student Portal.</a:t>
            </a:r>
            <a:endParaRPr lang="en-KE" dirty="0"/>
          </a:p>
        </p:txBody>
      </p:sp>
    </p:spTree>
    <p:extLst>
      <p:ext uri="{BB962C8B-B14F-4D97-AF65-F5344CB8AC3E}">
        <p14:creationId xmlns:p14="http://schemas.microsoft.com/office/powerpoint/2010/main" val="37779753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D6D379-7978-C90E-C77D-9C0645E7E5C8}"/>
              </a:ext>
            </a:extLst>
          </p:cNvPr>
          <p:cNvSpPr>
            <a:spLocks noGrp="1"/>
          </p:cNvSpPr>
          <p:nvPr>
            <p:ph type="title"/>
          </p:nvPr>
        </p:nvSpPr>
        <p:spPr/>
        <p:txBody>
          <a:bodyPr/>
          <a:lstStyle/>
          <a:p>
            <a:r>
              <a:rPr lang="en-US" dirty="0"/>
              <a:t>3.OBJECTIVES </a:t>
            </a:r>
            <a:endParaRPr lang="en-KE" dirty="0"/>
          </a:p>
        </p:txBody>
      </p:sp>
      <p:sp>
        <p:nvSpPr>
          <p:cNvPr id="3" name="Content Placeholder 2">
            <a:extLst>
              <a:ext uri="{FF2B5EF4-FFF2-40B4-BE49-F238E27FC236}">
                <a16:creationId xmlns:a16="http://schemas.microsoft.com/office/drawing/2014/main" id="{F1A99FEC-1424-339F-3D9A-9F5C723833A0}"/>
              </a:ext>
            </a:extLst>
          </p:cNvPr>
          <p:cNvSpPr>
            <a:spLocks noGrp="1"/>
          </p:cNvSpPr>
          <p:nvPr>
            <p:ph idx="1"/>
          </p:nvPr>
        </p:nvSpPr>
        <p:spPr/>
        <p:txBody>
          <a:bodyPr/>
          <a:lstStyle/>
          <a:p>
            <a:pPr marL="0" indent="0">
              <a:buNone/>
            </a:pPr>
            <a:r>
              <a:rPr lang="en-US" sz="2400" b="1" i="1" u="sng" dirty="0"/>
              <a:t>General Objective</a:t>
            </a:r>
          </a:p>
          <a:p>
            <a:r>
              <a:rPr lang="en-US" dirty="0"/>
              <a:t>To analyze the requirements for developing a Student Information System for JKUAT .</a:t>
            </a:r>
          </a:p>
          <a:p>
            <a:pPr marL="0" indent="0">
              <a:buNone/>
            </a:pPr>
            <a:r>
              <a:rPr lang="en-US" sz="2400" b="1" i="1" u="sng" dirty="0"/>
              <a:t>Specific Objectives</a:t>
            </a:r>
          </a:p>
          <a:p>
            <a:r>
              <a:rPr lang="en-US" dirty="0"/>
              <a:t> To analyze the functions of the Lecturer Module.* To analyze the functions of the Student Module.</a:t>
            </a:r>
          </a:p>
          <a:p>
            <a:r>
              <a:rPr lang="en-US" dirty="0"/>
              <a:t> To identify the objects involved in the system.</a:t>
            </a:r>
          </a:p>
          <a:p>
            <a:r>
              <a:rPr lang="en-US" dirty="0"/>
              <a:t>To identify the actors and their interactions.</a:t>
            </a:r>
          </a:p>
          <a:p>
            <a:r>
              <a:rPr lang="en-US" dirty="0"/>
              <a:t> To determine the functional requirements of the system.</a:t>
            </a:r>
            <a:endParaRPr lang="en-KE" dirty="0"/>
          </a:p>
        </p:txBody>
      </p:sp>
    </p:spTree>
    <p:extLst>
      <p:ext uri="{BB962C8B-B14F-4D97-AF65-F5344CB8AC3E}">
        <p14:creationId xmlns:p14="http://schemas.microsoft.com/office/powerpoint/2010/main" val="12963761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B9755-6231-2558-E563-58E628CC1374}"/>
              </a:ext>
            </a:extLst>
          </p:cNvPr>
          <p:cNvSpPr>
            <a:spLocks noGrp="1"/>
          </p:cNvSpPr>
          <p:nvPr>
            <p:ph type="title"/>
          </p:nvPr>
        </p:nvSpPr>
        <p:spPr>
          <a:xfrm>
            <a:off x="685800" y="753534"/>
            <a:ext cx="10820399" cy="955676"/>
          </a:xfrm>
        </p:spPr>
        <p:txBody>
          <a:bodyPr/>
          <a:lstStyle/>
          <a:p>
            <a:r>
              <a:rPr lang="en-US" dirty="0"/>
              <a:t>4.SYSTEM REQUIREMENTS</a:t>
            </a:r>
            <a:endParaRPr lang="en-KE" dirty="0"/>
          </a:p>
        </p:txBody>
      </p:sp>
      <p:sp>
        <p:nvSpPr>
          <p:cNvPr id="3" name="Text Placeholder 2">
            <a:extLst>
              <a:ext uri="{FF2B5EF4-FFF2-40B4-BE49-F238E27FC236}">
                <a16:creationId xmlns:a16="http://schemas.microsoft.com/office/drawing/2014/main" id="{64F9304B-3335-6BCD-E3CC-2C6EF6139927}"/>
              </a:ext>
            </a:extLst>
          </p:cNvPr>
          <p:cNvSpPr>
            <a:spLocks noGrp="1"/>
          </p:cNvSpPr>
          <p:nvPr>
            <p:ph type="body" idx="1"/>
          </p:nvPr>
        </p:nvSpPr>
        <p:spPr>
          <a:xfrm>
            <a:off x="1015999" y="2022246"/>
            <a:ext cx="10490200" cy="955675"/>
          </a:xfrm>
        </p:spPr>
        <p:txBody>
          <a:bodyPr/>
          <a:lstStyle/>
          <a:p>
            <a:r>
              <a:rPr lang="en-US" dirty="0"/>
              <a:t>FUNCTIONAL REQUIREMENTS </a:t>
            </a:r>
            <a:endParaRPr lang="en-KE" dirty="0"/>
          </a:p>
        </p:txBody>
      </p:sp>
    </p:spTree>
    <p:extLst>
      <p:ext uri="{BB962C8B-B14F-4D97-AF65-F5344CB8AC3E}">
        <p14:creationId xmlns:p14="http://schemas.microsoft.com/office/powerpoint/2010/main" val="25220520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5AE45B-50FE-D2D8-56F3-C0B4978E142A}"/>
              </a:ext>
            </a:extLst>
          </p:cNvPr>
          <p:cNvSpPr>
            <a:spLocks noGrp="1"/>
          </p:cNvSpPr>
          <p:nvPr>
            <p:ph type="title"/>
          </p:nvPr>
        </p:nvSpPr>
        <p:spPr/>
        <p:txBody>
          <a:bodyPr/>
          <a:lstStyle/>
          <a:p>
            <a:r>
              <a:rPr lang="en-US" dirty="0"/>
              <a:t>LECTURER MODULE </a:t>
            </a:r>
            <a:endParaRPr lang="en-KE" dirty="0"/>
          </a:p>
        </p:txBody>
      </p:sp>
      <p:sp>
        <p:nvSpPr>
          <p:cNvPr id="3" name="Content Placeholder 2">
            <a:extLst>
              <a:ext uri="{FF2B5EF4-FFF2-40B4-BE49-F238E27FC236}">
                <a16:creationId xmlns:a16="http://schemas.microsoft.com/office/drawing/2014/main" id="{9C2ADCC5-0C2D-C8F7-5AED-A385C870E739}"/>
              </a:ext>
            </a:extLst>
          </p:cNvPr>
          <p:cNvSpPr>
            <a:spLocks noGrp="1"/>
          </p:cNvSpPr>
          <p:nvPr>
            <p:ph idx="1"/>
          </p:nvPr>
        </p:nvSpPr>
        <p:spPr/>
        <p:txBody>
          <a:bodyPr/>
          <a:lstStyle/>
          <a:p>
            <a:r>
              <a:rPr lang="en-US" dirty="0"/>
              <a:t>The lecturer should be able to:</a:t>
            </a:r>
          </a:p>
          <a:p>
            <a:pPr marL="457200" indent="-457200">
              <a:buFont typeface="+mj-lt"/>
              <a:buAutoNum type="arabicPeriod"/>
            </a:pPr>
            <a:r>
              <a:rPr lang="en-US" dirty="0"/>
              <a:t> Login.</a:t>
            </a:r>
          </a:p>
          <a:p>
            <a:pPr marL="457200" indent="-457200">
              <a:buFont typeface="+mj-lt"/>
              <a:buAutoNum type="arabicPeriod"/>
            </a:pPr>
            <a:r>
              <a:rPr lang="en-US" dirty="0"/>
              <a:t> Upload notes.</a:t>
            </a:r>
          </a:p>
          <a:p>
            <a:pPr marL="457200" indent="-457200">
              <a:buFont typeface="+mj-lt"/>
              <a:buAutoNum type="arabicPeriod"/>
            </a:pPr>
            <a:r>
              <a:rPr lang="en-US" dirty="0"/>
              <a:t> Upload assignments.</a:t>
            </a:r>
          </a:p>
          <a:p>
            <a:pPr marL="457200" indent="-457200">
              <a:buFont typeface="+mj-lt"/>
              <a:buAutoNum type="arabicPeriod"/>
            </a:pPr>
            <a:r>
              <a:rPr lang="en-US" dirty="0"/>
              <a:t> Upload CATs.</a:t>
            </a:r>
          </a:p>
          <a:p>
            <a:pPr marL="457200" indent="-457200">
              <a:buFont typeface="+mj-lt"/>
              <a:buAutoNum type="arabicPeriod"/>
            </a:pPr>
            <a:r>
              <a:rPr lang="en-US" dirty="0"/>
              <a:t> Grade assignments.</a:t>
            </a:r>
          </a:p>
          <a:p>
            <a:pPr marL="457200" indent="-457200">
              <a:buFont typeface="+mj-lt"/>
              <a:buAutoNum type="arabicPeriod"/>
            </a:pPr>
            <a:r>
              <a:rPr lang="en-US" dirty="0"/>
              <a:t>Grade CATs.</a:t>
            </a:r>
          </a:p>
          <a:p>
            <a:pPr marL="457200" indent="-457200">
              <a:buFont typeface="+mj-lt"/>
              <a:buAutoNum type="arabicPeriod"/>
            </a:pPr>
            <a:r>
              <a:rPr lang="en-US" dirty="0"/>
              <a:t> Enter examination marks.</a:t>
            </a:r>
          </a:p>
          <a:p>
            <a:pPr marL="457200" indent="-457200">
              <a:buFont typeface="+mj-lt"/>
              <a:buAutoNum type="arabicPeriod"/>
            </a:pPr>
            <a:r>
              <a:rPr lang="en-US" dirty="0"/>
              <a:t>View students registered in their units.</a:t>
            </a:r>
            <a:endParaRPr lang="en-KE" dirty="0"/>
          </a:p>
        </p:txBody>
      </p:sp>
    </p:spTree>
    <p:extLst>
      <p:ext uri="{BB962C8B-B14F-4D97-AF65-F5344CB8AC3E}">
        <p14:creationId xmlns:p14="http://schemas.microsoft.com/office/powerpoint/2010/main" val="868778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767EE-31A2-90E2-FF42-E3EE4D0F7702}"/>
              </a:ext>
            </a:extLst>
          </p:cNvPr>
          <p:cNvSpPr>
            <a:spLocks noGrp="1"/>
          </p:cNvSpPr>
          <p:nvPr>
            <p:ph type="title"/>
          </p:nvPr>
        </p:nvSpPr>
        <p:spPr/>
        <p:txBody>
          <a:bodyPr/>
          <a:lstStyle/>
          <a:p>
            <a:r>
              <a:rPr lang="en-US" dirty="0"/>
              <a:t>STUDENT MODULE</a:t>
            </a:r>
            <a:endParaRPr lang="en-KE" dirty="0"/>
          </a:p>
        </p:txBody>
      </p:sp>
      <p:sp>
        <p:nvSpPr>
          <p:cNvPr id="3" name="Content Placeholder 2">
            <a:extLst>
              <a:ext uri="{FF2B5EF4-FFF2-40B4-BE49-F238E27FC236}">
                <a16:creationId xmlns:a16="http://schemas.microsoft.com/office/drawing/2014/main" id="{F0F91C46-E6E1-841D-69DC-9C17395EB44D}"/>
              </a:ext>
            </a:extLst>
          </p:cNvPr>
          <p:cNvSpPr>
            <a:spLocks noGrp="1"/>
          </p:cNvSpPr>
          <p:nvPr>
            <p:ph idx="1"/>
          </p:nvPr>
        </p:nvSpPr>
        <p:spPr/>
        <p:txBody>
          <a:bodyPr/>
          <a:lstStyle/>
          <a:p>
            <a:r>
              <a:rPr lang="en-US" dirty="0"/>
              <a:t>The student should be able to:</a:t>
            </a:r>
          </a:p>
          <a:p>
            <a:pPr marL="457200" indent="-457200">
              <a:buFont typeface="+mj-lt"/>
              <a:buAutoNum type="arabicPeriod"/>
            </a:pPr>
            <a:r>
              <a:rPr lang="en-US" dirty="0"/>
              <a:t> Login.</a:t>
            </a:r>
          </a:p>
          <a:p>
            <a:pPr marL="457200" indent="-457200">
              <a:buFont typeface="+mj-lt"/>
              <a:buAutoNum type="arabicPeriod"/>
            </a:pPr>
            <a:r>
              <a:rPr lang="en-US" dirty="0"/>
              <a:t> Register units.</a:t>
            </a:r>
          </a:p>
          <a:p>
            <a:pPr marL="457200" indent="-457200">
              <a:buFont typeface="+mj-lt"/>
              <a:buAutoNum type="arabicPeriod"/>
            </a:pPr>
            <a:r>
              <a:rPr lang="en-US" dirty="0"/>
              <a:t> View registered units.</a:t>
            </a:r>
          </a:p>
          <a:p>
            <a:pPr marL="457200" indent="-457200">
              <a:buFont typeface="+mj-lt"/>
              <a:buAutoNum type="arabicPeriod"/>
            </a:pPr>
            <a:r>
              <a:rPr lang="en-US" dirty="0"/>
              <a:t> Access notes.</a:t>
            </a:r>
          </a:p>
          <a:p>
            <a:pPr marL="457200" indent="-457200">
              <a:buFont typeface="+mj-lt"/>
              <a:buAutoNum type="arabicPeriod"/>
            </a:pPr>
            <a:r>
              <a:rPr lang="en-US" dirty="0"/>
              <a:t> Attempt CATs.</a:t>
            </a:r>
          </a:p>
          <a:p>
            <a:pPr marL="457200" indent="-457200">
              <a:buFont typeface="+mj-lt"/>
              <a:buAutoNum type="arabicPeriod"/>
            </a:pPr>
            <a:r>
              <a:rPr lang="en-US" dirty="0"/>
              <a:t> Submit assignments.</a:t>
            </a:r>
          </a:p>
          <a:p>
            <a:pPr marL="457200" indent="-457200">
              <a:buFont typeface="+mj-lt"/>
              <a:buAutoNum type="arabicPeriod"/>
            </a:pPr>
            <a:r>
              <a:rPr lang="en-US" dirty="0"/>
              <a:t> View grades.</a:t>
            </a:r>
          </a:p>
          <a:p>
            <a:pPr marL="457200" indent="-457200">
              <a:buFont typeface="+mj-lt"/>
              <a:buAutoNum type="arabicPeriod"/>
            </a:pPr>
            <a:r>
              <a:rPr lang="en-US" dirty="0"/>
              <a:t> View examination results.</a:t>
            </a:r>
            <a:endParaRPr lang="en-KE" dirty="0"/>
          </a:p>
        </p:txBody>
      </p:sp>
    </p:spTree>
    <p:extLst>
      <p:ext uri="{BB962C8B-B14F-4D97-AF65-F5344CB8AC3E}">
        <p14:creationId xmlns:p14="http://schemas.microsoft.com/office/powerpoint/2010/main" val="32217649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90466D-1971-14B1-EB93-63FB7AE8BE00}"/>
              </a:ext>
            </a:extLst>
          </p:cNvPr>
          <p:cNvSpPr>
            <a:spLocks noGrp="1"/>
          </p:cNvSpPr>
          <p:nvPr>
            <p:ph type="title"/>
          </p:nvPr>
        </p:nvSpPr>
        <p:spPr/>
        <p:txBody>
          <a:bodyPr/>
          <a:lstStyle/>
          <a:p>
            <a:r>
              <a:rPr lang="en-US" dirty="0"/>
              <a:t>LSM</a:t>
            </a:r>
            <a:endParaRPr lang="en-KE" dirty="0"/>
          </a:p>
        </p:txBody>
      </p:sp>
      <p:sp>
        <p:nvSpPr>
          <p:cNvPr id="3" name="Content Placeholder 2">
            <a:extLst>
              <a:ext uri="{FF2B5EF4-FFF2-40B4-BE49-F238E27FC236}">
                <a16:creationId xmlns:a16="http://schemas.microsoft.com/office/drawing/2014/main" id="{284433FA-724A-28C3-D45C-86E4DCF2E64C}"/>
              </a:ext>
            </a:extLst>
          </p:cNvPr>
          <p:cNvSpPr>
            <a:spLocks noGrp="1"/>
          </p:cNvSpPr>
          <p:nvPr>
            <p:ph idx="1"/>
          </p:nvPr>
        </p:nvSpPr>
        <p:spPr/>
        <p:txBody>
          <a:bodyPr/>
          <a:lstStyle/>
          <a:p>
            <a:r>
              <a:rPr lang="en-US" dirty="0"/>
              <a:t>The LMS should:</a:t>
            </a:r>
          </a:p>
          <a:p>
            <a:pPr marL="457200" indent="-457200">
              <a:buFont typeface="+mj-lt"/>
              <a:buAutoNum type="arabicPeriod"/>
            </a:pPr>
            <a:r>
              <a:rPr lang="en-US" dirty="0"/>
              <a:t> Store notes.</a:t>
            </a:r>
          </a:p>
          <a:p>
            <a:pPr marL="457200" indent="-457200">
              <a:buFont typeface="+mj-lt"/>
              <a:buAutoNum type="arabicPeriod"/>
            </a:pPr>
            <a:r>
              <a:rPr lang="en-US" dirty="0"/>
              <a:t> Store assignments.</a:t>
            </a:r>
          </a:p>
          <a:p>
            <a:pPr marL="457200" indent="-457200">
              <a:buFont typeface="+mj-lt"/>
              <a:buAutoNum type="arabicPeriod"/>
            </a:pPr>
            <a:r>
              <a:rPr lang="en-US" dirty="0"/>
              <a:t> Store CATs.</a:t>
            </a:r>
          </a:p>
          <a:p>
            <a:pPr marL="457200" indent="-457200">
              <a:buFont typeface="+mj-lt"/>
              <a:buAutoNum type="arabicPeriod"/>
            </a:pPr>
            <a:r>
              <a:rPr lang="en-US" dirty="0"/>
              <a:t> Store marks.</a:t>
            </a:r>
          </a:p>
          <a:p>
            <a:pPr marL="457200" indent="-457200">
              <a:buFont typeface="+mj-lt"/>
              <a:buAutoNum type="arabicPeriod"/>
            </a:pPr>
            <a:r>
              <a:rPr lang="en-US" dirty="0"/>
              <a:t> Synchronize with the Student Portal.</a:t>
            </a:r>
            <a:endParaRPr lang="en-KE" dirty="0"/>
          </a:p>
        </p:txBody>
      </p:sp>
    </p:spTree>
    <p:extLst>
      <p:ext uri="{BB962C8B-B14F-4D97-AF65-F5344CB8AC3E}">
        <p14:creationId xmlns:p14="http://schemas.microsoft.com/office/powerpoint/2010/main" val="27487360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20D5CD-9D3F-4FB1-5BD7-09D78D2E294C}"/>
              </a:ext>
            </a:extLst>
          </p:cNvPr>
          <p:cNvSpPr>
            <a:spLocks noGrp="1"/>
          </p:cNvSpPr>
          <p:nvPr>
            <p:ph type="title"/>
          </p:nvPr>
        </p:nvSpPr>
        <p:spPr/>
        <p:txBody>
          <a:bodyPr/>
          <a:lstStyle/>
          <a:p>
            <a:r>
              <a:rPr lang="en-US" dirty="0"/>
              <a:t>STUDENT PORTAL</a:t>
            </a:r>
            <a:endParaRPr lang="en-KE" dirty="0"/>
          </a:p>
        </p:txBody>
      </p:sp>
      <p:sp>
        <p:nvSpPr>
          <p:cNvPr id="3" name="Content Placeholder 2">
            <a:extLst>
              <a:ext uri="{FF2B5EF4-FFF2-40B4-BE49-F238E27FC236}">
                <a16:creationId xmlns:a16="http://schemas.microsoft.com/office/drawing/2014/main" id="{B9027D8D-32C4-C113-09BC-22CCC1FF59D4}"/>
              </a:ext>
            </a:extLst>
          </p:cNvPr>
          <p:cNvSpPr>
            <a:spLocks noGrp="1"/>
          </p:cNvSpPr>
          <p:nvPr>
            <p:ph idx="1"/>
          </p:nvPr>
        </p:nvSpPr>
        <p:spPr/>
        <p:txBody>
          <a:bodyPr/>
          <a:lstStyle/>
          <a:p>
            <a:r>
              <a:rPr lang="en-US" dirty="0"/>
              <a:t>The Student Portal should:</a:t>
            </a:r>
          </a:p>
          <a:p>
            <a:pPr marL="457200" indent="-457200">
              <a:buFont typeface="+mj-lt"/>
              <a:buAutoNum type="arabicPeriod"/>
            </a:pPr>
            <a:r>
              <a:rPr lang="en-US" dirty="0"/>
              <a:t> Register student units.</a:t>
            </a:r>
          </a:p>
          <a:p>
            <a:pPr marL="457200" indent="-457200">
              <a:buFont typeface="+mj-lt"/>
              <a:buAutoNum type="arabicPeriod"/>
            </a:pPr>
            <a:r>
              <a:rPr lang="en-US" dirty="0"/>
              <a:t> Display registered units.</a:t>
            </a:r>
          </a:p>
          <a:p>
            <a:pPr marL="457200" indent="-457200">
              <a:buFont typeface="+mj-lt"/>
              <a:buAutoNum type="arabicPeriod"/>
            </a:pPr>
            <a:r>
              <a:rPr lang="en-US" dirty="0"/>
              <a:t> Display grades.</a:t>
            </a:r>
          </a:p>
          <a:p>
            <a:pPr marL="457200" indent="-457200">
              <a:buFont typeface="+mj-lt"/>
              <a:buAutoNum type="arabicPeriod"/>
            </a:pPr>
            <a:r>
              <a:rPr lang="en-US" dirty="0"/>
              <a:t> Display examination results.</a:t>
            </a:r>
            <a:endParaRPr lang="en-KE" dirty="0"/>
          </a:p>
        </p:txBody>
      </p:sp>
    </p:spTree>
    <p:extLst>
      <p:ext uri="{BB962C8B-B14F-4D97-AF65-F5344CB8AC3E}">
        <p14:creationId xmlns:p14="http://schemas.microsoft.com/office/powerpoint/2010/main" val="26526866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42E339-12F2-1480-228B-0DCE2EA18A6E}"/>
              </a:ext>
            </a:extLst>
          </p:cNvPr>
          <p:cNvSpPr>
            <a:spLocks noGrp="1"/>
          </p:cNvSpPr>
          <p:nvPr>
            <p:ph type="title"/>
          </p:nvPr>
        </p:nvSpPr>
        <p:spPr/>
        <p:txBody>
          <a:bodyPr/>
          <a:lstStyle/>
          <a:p>
            <a:r>
              <a:rPr lang="en-US" dirty="0"/>
              <a:t>5.NON-FUCTIONAL REQUIREMENTS</a:t>
            </a:r>
            <a:endParaRPr lang="en-KE" dirty="0"/>
          </a:p>
        </p:txBody>
      </p:sp>
      <p:sp>
        <p:nvSpPr>
          <p:cNvPr id="3" name="Content Placeholder 2">
            <a:extLst>
              <a:ext uri="{FF2B5EF4-FFF2-40B4-BE49-F238E27FC236}">
                <a16:creationId xmlns:a16="http://schemas.microsoft.com/office/drawing/2014/main" id="{2D3537E5-5620-F79B-9A1B-628C4E40D8EB}"/>
              </a:ext>
            </a:extLst>
          </p:cNvPr>
          <p:cNvSpPr>
            <a:spLocks noGrp="1"/>
          </p:cNvSpPr>
          <p:nvPr>
            <p:ph idx="1"/>
          </p:nvPr>
        </p:nvSpPr>
        <p:spPr/>
        <p:txBody>
          <a:bodyPr/>
          <a:lstStyle/>
          <a:p>
            <a:r>
              <a:rPr lang="en-US" dirty="0"/>
              <a:t> Secure login.</a:t>
            </a:r>
          </a:p>
          <a:p>
            <a:r>
              <a:rPr lang="en-US" dirty="0"/>
              <a:t> Fast response time.</a:t>
            </a:r>
          </a:p>
          <a:p>
            <a:r>
              <a:rPr lang="en-US" dirty="0"/>
              <a:t> Data accuracy.</a:t>
            </a:r>
          </a:p>
          <a:p>
            <a:r>
              <a:rPr lang="en-US" dirty="0"/>
              <a:t> Reliability.</a:t>
            </a:r>
          </a:p>
          <a:p>
            <a:r>
              <a:rPr lang="en-US" dirty="0"/>
              <a:t> Easy-to-use interface.</a:t>
            </a:r>
          </a:p>
          <a:p>
            <a:r>
              <a:rPr lang="en-US" dirty="0"/>
              <a:t> Data synchronization between LMS and Student Portal.</a:t>
            </a:r>
            <a:endParaRPr lang="en-KE" dirty="0"/>
          </a:p>
        </p:txBody>
      </p:sp>
    </p:spTree>
    <p:extLst>
      <p:ext uri="{BB962C8B-B14F-4D97-AF65-F5344CB8AC3E}">
        <p14:creationId xmlns:p14="http://schemas.microsoft.com/office/powerpoint/2010/main" val="34618019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3CCABF-9262-AEFC-A0C5-61A99876A024}"/>
              </a:ext>
            </a:extLst>
          </p:cNvPr>
          <p:cNvSpPr>
            <a:spLocks noGrp="1"/>
          </p:cNvSpPr>
          <p:nvPr>
            <p:ph type="title"/>
          </p:nvPr>
        </p:nvSpPr>
        <p:spPr/>
        <p:txBody>
          <a:bodyPr/>
          <a:lstStyle/>
          <a:p>
            <a:r>
              <a:rPr lang="en-US" dirty="0"/>
              <a:t>6.ACTORS</a:t>
            </a:r>
            <a:endParaRPr lang="en-KE" dirty="0"/>
          </a:p>
        </p:txBody>
      </p:sp>
      <p:sp>
        <p:nvSpPr>
          <p:cNvPr id="3" name="Content Placeholder 2">
            <a:extLst>
              <a:ext uri="{FF2B5EF4-FFF2-40B4-BE49-F238E27FC236}">
                <a16:creationId xmlns:a16="http://schemas.microsoft.com/office/drawing/2014/main" id="{1B2A773A-1E08-5CA2-8A93-09E5050E9CD1}"/>
              </a:ext>
            </a:extLst>
          </p:cNvPr>
          <p:cNvSpPr>
            <a:spLocks noGrp="1"/>
          </p:cNvSpPr>
          <p:nvPr>
            <p:ph idx="1"/>
          </p:nvPr>
        </p:nvSpPr>
        <p:spPr/>
        <p:txBody>
          <a:bodyPr/>
          <a:lstStyle/>
          <a:p>
            <a:pPr marL="0" indent="0">
              <a:buNone/>
            </a:pPr>
            <a:r>
              <a:rPr lang="en-US" dirty="0"/>
              <a:t>The actors interacting with the system are:</a:t>
            </a:r>
          </a:p>
          <a:p>
            <a:pPr marL="457200" indent="-457200">
              <a:buFont typeface="+mj-lt"/>
              <a:buAutoNum type="arabicPeriod"/>
            </a:pPr>
            <a:r>
              <a:rPr lang="en-US" dirty="0"/>
              <a:t> Student</a:t>
            </a:r>
          </a:p>
          <a:p>
            <a:pPr marL="457200" indent="-457200">
              <a:buFont typeface="+mj-lt"/>
              <a:buAutoNum type="arabicPeriod"/>
            </a:pPr>
            <a:r>
              <a:rPr lang="en-US" dirty="0"/>
              <a:t> Lecturer</a:t>
            </a:r>
          </a:p>
          <a:p>
            <a:pPr marL="457200" indent="-457200">
              <a:buFont typeface="+mj-lt"/>
              <a:buAutoNum type="arabicPeriod"/>
            </a:pPr>
            <a:r>
              <a:rPr lang="en-US" dirty="0"/>
              <a:t> System Administrator</a:t>
            </a:r>
            <a:endParaRPr lang="en-KE" dirty="0"/>
          </a:p>
        </p:txBody>
      </p:sp>
    </p:spTree>
    <p:extLst>
      <p:ext uri="{BB962C8B-B14F-4D97-AF65-F5344CB8AC3E}">
        <p14:creationId xmlns:p14="http://schemas.microsoft.com/office/powerpoint/2010/main" val="5310660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46CF80-62E3-5586-FA25-57AB1B2D95C2}"/>
              </a:ext>
            </a:extLst>
          </p:cNvPr>
          <p:cNvSpPr>
            <a:spLocks noGrp="1"/>
          </p:cNvSpPr>
          <p:nvPr>
            <p:ph type="title"/>
          </p:nvPr>
        </p:nvSpPr>
        <p:spPr/>
        <p:txBody>
          <a:bodyPr/>
          <a:lstStyle/>
          <a:p>
            <a:r>
              <a:rPr lang="en-US" dirty="0"/>
              <a:t>7.IDENTIFIED OBJECTIVES</a:t>
            </a:r>
            <a:endParaRPr lang="en-KE" dirty="0"/>
          </a:p>
        </p:txBody>
      </p:sp>
      <p:sp>
        <p:nvSpPr>
          <p:cNvPr id="3" name="Content Placeholder 2">
            <a:extLst>
              <a:ext uri="{FF2B5EF4-FFF2-40B4-BE49-F238E27FC236}">
                <a16:creationId xmlns:a16="http://schemas.microsoft.com/office/drawing/2014/main" id="{F4317669-1351-87A3-E80F-0F0C25A9A7B3}"/>
              </a:ext>
            </a:extLst>
          </p:cNvPr>
          <p:cNvSpPr>
            <a:spLocks noGrp="1"/>
          </p:cNvSpPr>
          <p:nvPr>
            <p:ph idx="1"/>
          </p:nvPr>
        </p:nvSpPr>
        <p:spPr>
          <a:xfrm>
            <a:off x="685800" y="2194560"/>
            <a:ext cx="10820400" cy="4360476"/>
          </a:xfrm>
        </p:spPr>
        <p:txBody>
          <a:bodyPr>
            <a:normAutofit fontScale="92500" lnSpcReduction="10000"/>
          </a:bodyPr>
          <a:lstStyle/>
          <a:p>
            <a:r>
              <a:rPr lang="en-US" dirty="0"/>
              <a:t>The main objects in the system include:</a:t>
            </a:r>
          </a:p>
          <a:p>
            <a:pPr marL="457200" indent="-457200">
              <a:buFont typeface="+mj-lt"/>
              <a:buAutoNum type="arabicPeriod"/>
            </a:pPr>
            <a:r>
              <a:rPr lang="en-US" dirty="0"/>
              <a:t>Student</a:t>
            </a:r>
          </a:p>
          <a:p>
            <a:pPr marL="457200" indent="-457200">
              <a:buFont typeface="+mj-lt"/>
              <a:buAutoNum type="arabicPeriod"/>
            </a:pPr>
            <a:r>
              <a:rPr lang="en-US" dirty="0"/>
              <a:t> Lecturer</a:t>
            </a:r>
          </a:p>
          <a:p>
            <a:pPr marL="457200" indent="-457200">
              <a:buFont typeface="+mj-lt"/>
              <a:buAutoNum type="arabicPeriod"/>
            </a:pPr>
            <a:r>
              <a:rPr lang="en-US" dirty="0"/>
              <a:t> Unit</a:t>
            </a:r>
          </a:p>
          <a:p>
            <a:pPr marL="457200" indent="-457200">
              <a:buFont typeface="+mj-lt"/>
              <a:buAutoNum type="arabicPeriod"/>
            </a:pPr>
            <a:r>
              <a:rPr lang="en-US" dirty="0"/>
              <a:t> Assignment</a:t>
            </a:r>
          </a:p>
          <a:p>
            <a:pPr marL="457200" indent="-457200">
              <a:buFont typeface="+mj-lt"/>
              <a:buAutoNum type="arabicPeriod"/>
            </a:pPr>
            <a:r>
              <a:rPr lang="en-US" dirty="0"/>
              <a:t> CAT</a:t>
            </a:r>
          </a:p>
          <a:p>
            <a:pPr marL="457200" indent="-457200">
              <a:buFont typeface="+mj-lt"/>
              <a:buAutoNum type="arabicPeriod"/>
            </a:pPr>
            <a:r>
              <a:rPr lang="en-US" dirty="0"/>
              <a:t> Examination</a:t>
            </a:r>
          </a:p>
          <a:p>
            <a:pPr marL="457200" indent="-457200">
              <a:buFont typeface="+mj-lt"/>
              <a:buAutoNum type="arabicPeriod"/>
            </a:pPr>
            <a:r>
              <a:rPr lang="en-US" dirty="0"/>
              <a:t> LMS</a:t>
            </a:r>
          </a:p>
          <a:p>
            <a:pPr marL="457200" indent="-457200">
              <a:buFont typeface="+mj-lt"/>
              <a:buAutoNum type="arabicPeriod"/>
            </a:pPr>
            <a:r>
              <a:rPr lang="en-US" dirty="0"/>
              <a:t> Student Portal</a:t>
            </a:r>
          </a:p>
          <a:p>
            <a:pPr marL="457200" indent="-457200">
              <a:buFont typeface="+mj-lt"/>
              <a:buAutoNum type="arabicPeriod"/>
            </a:pPr>
            <a:r>
              <a:rPr lang="en-US" dirty="0"/>
              <a:t> Grade/Result</a:t>
            </a:r>
          </a:p>
          <a:p>
            <a:pPr marL="457200" indent="-457200">
              <a:buFont typeface="+mj-lt"/>
              <a:buAutoNum type="arabicPeriod"/>
            </a:pPr>
            <a:r>
              <a:rPr lang="en-US" dirty="0"/>
              <a:t> Administrator</a:t>
            </a:r>
            <a:endParaRPr lang="en-KE" dirty="0"/>
          </a:p>
        </p:txBody>
      </p:sp>
    </p:spTree>
    <p:extLst>
      <p:ext uri="{BB962C8B-B14F-4D97-AF65-F5344CB8AC3E}">
        <p14:creationId xmlns:p14="http://schemas.microsoft.com/office/powerpoint/2010/main" val="31632452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100177-30B3-1830-02C8-3CDCBC41D3DA}"/>
              </a:ext>
            </a:extLst>
          </p:cNvPr>
          <p:cNvSpPr>
            <a:spLocks noGrp="1"/>
          </p:cNvSpPr>
          <p:nvPr>
            <p:ph type="title"/>
          </p:nvPr>
        </p:nvSpPr>
        <p:spPr/>
        <p:txBody>
          <a:bodyPr/>
          <a:lstStyle/>
          <a:p>
            <a:r>
              <a:rPr lang="en-US" dirty="0"/>
              <a:t>8.USE CASES</a:t>
            </a:r>
            <a:endParaRPr lang="en-KE" dirty="0"/>
          </a:p>
        </p:txBody>
      </p:sp>
    </p:spTree>
    <p:extLst>
      <p:ext uri="{BB962C8B-B14F-4D97-AF65-F5344CB8AC3E}">
        <p14:creationId xmlns:p14="http://schemas.microsoft.com/office/powerpoint/2010/main" val="2454302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332E9-1400-5A6F-D60E-CEE31AD5ED38}"/>
              </a:ext>
            </a:extLst>
          </p:cNvPr>
          <p:cNvSpPr>
            <a:spLocks noGrp="1"/>
          </p:cNvSpPr>
          <p:nvPr>
            <p:ph type="title"/>
          </p:nvPr>
        </p:nvSpPr>
        <p:spPr/>
        <p:txBody>
          <a:bodyPr/>
          <a:lstStyle/>
          <a:p>
            <a:r>
              <a:rPr lang="en-US" dirty="0"/>
              <a:t>STUDENT CASES</a:t>
            </a:r>
            <a:endParaRPr lang="en-KE" dirty="0"/>
          </a:p>
        </p:txBody>
      </p:sp>
      <p:sp>
        <p:nvSpPr>
          <p:cNvPr id="3" name="Content Placeholder 2">
            <a:extLst>
              <a:ext uri="{FF2B5EF4-FFF2-40B4-BE49-F238E27FC236}">
                <a16:creationId xmlns:a16="http://schemas.microsoft.com/office/drawing/2014/main" id="{A2D99899-DFCB-9D6A-ECAF-5923AFF1EE6D}"/>
              </a:ext>
            </a:extLst>
          </p:cNvPr>
          <p:cNvSpPr>
            <a:spLocks noGrp="1"/>
          </p:cNvSpPr>
          <p:nvPr>
            <p:ph idx="1"/>
          </p:nvPr>
        </p:nvSpPr>
        <p:spPr/>
        <p:txBody>
          <a:bodyPr/>
          <a:lstStyle/>
          <a:p>
            <a:r>
              <a:rPr lang="en-US" dirty="0"/>
              <a:t> Login</a:t>
            </a:r>
          </a:p>
          <a:p>
            <a:r>
              <a:rPr lang="en-US" dirty="0"/>
              <a:t> Register Units</a:t>
            </a:r>
          </a:p>
          <a:p>
            <a:r>
              <a:rPr lang="en-US" dirty="0"/>
              <a:t> View Registered Units</a:t>
            </a:r>
          </a:p>
          <a:p>
            <a:r>
              <a:rPr lang="en-US" dirty="0"/>
              <a:t> Download Notes</a:t>
            </a:r>
          </a:p>
          <a:p>
            <a:r>
              <a:rPr lang="en-US" dirty="0"/>
              <a:t> Submit Assignments</a:t>
            </a:r>
          </a:p>
          <a:p>
            <a:r>
              <a:rPr lang="en-US" dirty="0"/>
              <a:t> Attempt CATs</a:t>
            </a:r>
          </a:p>
          <a:p>
            <a:r>
              <a:rPr lang="en-US" dirty="0"/>
              <a:t> View Grades</a:t>
            </a:r>
          </a:p>
          <a:p>
            <a:r>
              <a:rPr lang="en-US" dirty="0"/>
              <a:t> View Results</a:t>
            </a:r>
            <a:endParaRPr lang="en-KE" dirty="0"/>
          </a:p>
        </p:txBody>
      </p:sp>
    </p:spTree>
    <p:extLst>
      <p:ext uri="{BB962C8B-B14F-4D97-AF65-F5344CB8AC3E}">
        <p14:creationId xmlns:p14="http://schemas.microsoft.com/office/powerpoint/2010/main" val="8446396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F136F-EBD1-5971-63FC-0EB970DB5025}"/>
              </a:ext>
            </a:extLst>
          </p:cNvPr>
          <p:cNvSpPr>
            <a:spLocks noGrp="1"/>
          </p:cNvSpPr>
          <p:nvPr>
            <p:ph type="title"/>
          </p:nvPr>
        </p:nvSpPr>
        <p:spPr/>
        <p:txBody>
          <a:bodyPr/>
          <a:lstStyle/>
          <a:p>
            <a:r>
              <a:rPr lang="en-US" dirty="0"/>
              <a:t>LECTURE USE CASES</a:t>
            </a:r>
            <a:endParaRPr lang="en-KE" dirty="0"/>
          </a:p>
        </p:txBody>
      </p:sp>
      <p:sp>
        <p:nvSpPr>
          <p:cNvPr id="3" name="Content Placeholder 2">
            <a:extLst>
              <a:ext uri="{FF2B5EF4-FFF2-40B4-BE49-F238E27FC236}">
                <a16:creationId xmlns:a16="http://schemas.microsoft.com/office/drawing/2014/main" id="{741CB895-2370-45AB-AC49-CDF9EBB6AE50}"/>
              </a:ext>
            </a:extLst>
          </p:cNvPr>
          <p:cNvSpPr>
            <a:spLocks noGrp="1"/>
          </p:cNvSpPr>
          <p:nvPr>
            <p:ph idx="1"/>
          </p:nvPr>
        </p:nvSpPr>
        <p:spPr/>
        <p:txBody>
          <a:bodyPr/>
          <a:lstStyle/>
          <a:p>
            <a:r>
              <a:rPr lang="en-US" dirty="0"/>
              <a:t> Login</a:t>
            </a:r>
          </a:p>
          <a:p>
            <a:r>
              <a:rPr lang="en-US" dirty="0"/>
              <a:t> Upload Notes</a:t>
            </a:r>
          </a:p>
          <a:p>
            <a:r>
              <a:rPr lang="en-US" dirty="0"/>
              <a:t> Upload Assignments</a:t>
            </a:r>
          </a:p>
          <a:p>
            <a:r>
              <a:rPr lang="en-US" dirty="0"/>
              <a:t> Upload CATs</a:t>
            </a:r>
          </a:p>
          <a:p>
            <a:r>
              <a:rPr lang="en-US" dirty="0"/>
              <a:t>Grade Assignments</a:t>
            </a:r>
          </a:p>
          <a:p>
            <a:r>
              <a:rPr lang="en-US" dirty="0"/>
              <a:t> Grade CATs</a:t>
            </a:r>
          </a:p>
          <a:p>
            <a:r>
              <a:rPr lang="en-US" dirty="0"/>
              <a:t> Enter Examination Marks</a:t>
            </a:r>
            <a:endParaRPr lang="en-KE" dirty="0"/>
          </a:p>
        </p:txBody>
      </p:sp>
    </p:spTree>
    <p:extLst>
      <p:ext uri="{BB962C8B-B14F-4D97-AF65-F5344CB8AC3E}">
        <p14:creationId xmlns:p14="http://schemas.microsoft.com/office/powerpoint/2010/main" val="30282849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4B034-C36A-727E-CFD1-F5CDEFE23ABF}"/>
              </a:ext>
            </a:extLst>
          </p:cNvPr>
          <p:cNvSpPr>
            <a:spLocks noGrp="1"/>
          </p:cNvSpPr>
          <p:nvPr>
            <p:ph type="title"/>
          </p:nvPr>
        </p:nvSpPr>
        <p:spPr/>
        <p:txBody>
          <a:bodyPr/>
          <a:lstStyle/>
          <a:p>
            <a:r>
              <a:rPr lang="en-US" dirty="0"/>
              <a:t>ADMINISTRATOR USE CASES</a:t>
            </a:r>
            <a:endParaRPr lang="en-KE" dirty="0"/>
          </a:p>
        </p:txBody>
      </p:sp>
      <p:sp>
        <p:nvSpPr>
          <p:cNvPr id="3" name="Content Placeholder 2">
            <a:extLst>
              <a:ext uri="{FF2B5EF4-FFF2-40B4-BE49-F238E27FC236}">
                <a16:creationId xmlns:a16="http://schemas.microsoft.com/office/drawing/2014/main" id="{2F4CC50C-CF9F-C46A-C67E-C462DF6A8383}"/>
              </a:ext>
            </a:extLst>
          </p:cNvPr>
          <p:cNvSpPr>
            <a:spLocks noGrp="1"/>
          </p:cNvSpPr>
          <p:nvPr>
            <p:ph idx="1"/>
          </p:nvPr>
        </p:nvSpPr>
        <p:spPr/>
        <p:txBody>
          <a:bodyPr/>
          <a:lstStyle/>
          <a:p>
            <a:r>
              <a:rPr lang="en-US" dirty="0"/>
              <a:t>Manage Students</a:t>
            </a:r>
          </a:p>
          <a:p>
            <a:r>
              <a:rPr lang="en-US" dirty="0"/>
              <a:t> Manage Lecturers</a:t>
            </a:r>
          </a:p>
          <a:p>
            <a:r>
              <a:rPr lang="en-US" dirty="0"/>
              <a:t> Manage Units</a:t>
            </a:r>
          </a:p>
          <a:p>
            <a:r>
              <a:rPr lang="en-US" dirty="0"/>
              <a:t> Manage User Accounts</a:t>
            </a:r>
            <a:endParaRPr lang="en-KE" dirty="0"/>
          </a:p>
        </p:txBody>
      </p:sp>
    </p:spTree>
    <p:extLst>
      <p:ext uri="{BB962C8B-B14F-4D97-AF65-F5344CB8AC3E}">
        <p14:creationId xmlns:p14="http://schemas.microsoft.com/office/powerpoint/2010/main" val="11470846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C22ED7-4451-E81F-752C-362685B59B5F}"/>
              </a:ext>
            </a:extLst>
          </p:cNvPr>
          <p:cNvSpPr>
            <a:spLocks noGrp="1"/>
          </p:cNvSpPr>
          <p:nvPr>
            <p:ph type="title"/>
          </p:nvPr>
        </p:nvSpPr>
        <p:spPr/>
        <p:txBody>
          <a:bodyPr/>
          <a:lstStyle/>
          <a:p>
            <a:r>
              <a:rPr lang="en-US" dirty="0"/>
              <a:t>9. ASSUMPTIONS</a:t>
            </a:r>
            <a:endParaRPr lang="en-KE" dirty="0"/>
          </a:p>
        </p:txBody>
      </p:sp>
      <p:sp>
        <p:nvSpPr>
          <p:cNvPr id="3" name="Content Placeholder 2">
            <a:extLst>
              <a:ext uri="{FF2B5EF4-FFF2-40B4-BE49-F238E27FC236}">
                <a16:creationId xmlns:a16="http://schemas.microsoft.com/office/drawing/2014/main" id="{D1BB0023-37FA-4DAA-A94A-4871CF18CAA6}"/>
              </a:ext>
            </a:extLst>
          </p:cNvPr>
          <p:cNvSpPr>
            <a:spLocks noGrp="1"/>
          </p:cNvSpPr>
          <p:nvPr>
            <p:ph idx="1"/>
          </p:nvPr>
        </p:nvSpPr>
        <p:spPr/>
        <p:txBody>
          <a:bodyPr/>
          <a:lstStyle/>
          <a:p>
            <a:r>
              <a:rPr lang="en-US" dirty="0"/>
              <a:t> Every student has a unique registration number.</a:t>
            </a:r>
          </a:p>
          <a:p>
            <a:r>
              <a:rPr lang="en-US" dirty="0"/>
              <a:t> Every lecturer has a unique staff number.</a:t>
            </a:r>
          </a:p>
          <a:p>
            <a:r>
              <a:rPr lang="en-US" dirty="0"/>
              <a:t> Students register units before accessing them in the LMS.</a:t>
            </a:r>
          </a:p>
          <a:p>
            <a:r>
              <a:rPr lang="en-US" dirty="0"/>
              <a:t> Marks entered in the LMS are automatically displayed on the Student Portal.</a:t>
            </a:r>
          </a:p>
          <a:p>
            <a:r>
              <a:rPr lang="en-US" dirty="0"/>
              <a:t> Only authorized users can access the system.</a:t>
            </a:r>
            <a:endParaRPr lang="en-KE" dirty="0"/>
          </a:p>
        </p:txBody>
      </p:sp>
    </p:spTree>
    <p:extLst>
      <p:ext uri="{BB962C8B-B14F-4D97-AF65-F5344CB8AC3E}">
        <p14:creationId xmlns:p14="http://schemas.microsoft.com/office/powerpoint/2010/main" val="1876673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7ABC4-1FB2-46AB-1F07-196CF691BF83}"/>
              </a:ext>
            </a:extLst>
          </p:cNvPr>
          <p:cNvSpPr>
            <a:spLocks noGrp="1"/>
          </p:cNvSpPr>
          <p:nvPr>
            <p:ph type="title"/>
          </p:nvPr>
        </p:nvSpPr>
        <p:spPr/>
        <p:txBody>
          <a:bodyPr/>
          <a:lstStyle/>
          <a:p>
            <a:r>
              <a:rPr lang="en-US" dirty="0"/>
              <a:t>10. CONCLUSION </a:t>
            </a:r>
            <a:endParaRPr lang="en-KE" dirty="0"/>
          </a:p>
        </p:txBody>
      </p:sp>
      <p:sp>
        <p:nvSpPr>
          <p:cNvPr id="3" name="Content Placeholder 2">
            <a:extLst>
              <a:ext uri="{FF2B5EF4-FFF2-40B4-BE49-F238E27FC236}">
                <a16:creationId xmlns:a16="http://schemas.microsoft.com/office/drawing/2014/main" id="{B4FC3F07-472A-70A4-0290-DEDA621D7A4F}"/>
              </a:ext>
            </a:extLst>
          </p:cNvPr>
          <p:cNvSpPr>
            <a:spLocks noGrp="1"/>
          </p:cNvSpPr>
          <p:nvPr>
            <p:ph idx="1"/>
          </p:nvPr>
        </p:nvSpPr>
        <p:spPr/>
        <p:txBody>
          <a:bodyPr/>
          <a:lstStyle/>
          <a:p>
            <a:r>
              <a:rPr lang="en-US" dirty="0"/>
              <a:t>The Object-Oriented Analysis has identified the key requirements, actors, objects, and system functionalities needed for the proposed JKUAT Student Information System. It clearly defines how students, lecturers, and administrators will interact with the integrated Learning Management System (LMS) and Student Portal to support academic activities efficiently. The analysis also establishes the functional and non-functional requirements that the system must satisfy to ensure security, reliability, accuracy, and ease of use. This analysis provides a strong foundation for the next phase of development, where the system architecture, UML design diagrams, and implementation details will be developed through Object-Oriented Design .</a:t>
            </a:r>
            <a:endParaRPr lang="en-KE" dirty="0"/>
          </a:p>
        </p:txBody>
      </p:sp>
    </p:spTree>
    <p:extLst>
      <p:ext uri="{BB962C8B-B14F-4D97-AF65-F5344CB8AC3E}">
        <p14:creationId xmlns:p14="http://schemas.microsoft.com/office/powerpoint/2010/main" val="3059148187"/>
      </p:ext>
    </p:extLst>
  </p:cSld>
  <p:clrMapOvr>
    <a:masterClrMapping/>
  </p:clrMapOvr>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8F31A783-2159-4870-BC29-2BA7D038EA44}"/>
    </a:ext>
  </a:extLst>
</a:theme>
</file>

<file path=docProps/app.xml><?xml version="1.0" encoding="utf-8"?>
<Properties xmlns="http://schemas.openxmlformats.org/officeDocument/2006/extended-properties" xmlns:vt="http://schemas.openxmlformats.org/officeDocument/2006/docPropsVTypes">
  <Template>TM04033937[[fn=Vapor Trail]]</Template>
  <TotalTime>42</TotalTime>
  <Words>696</Words>
  <Application>Microsoft Office PowerPoint</Application>
  <PresentationFormat>Widescreen</PresentationFormat>
  <Paragraphs>111</Paragraphs>
  <Slides>18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Century Gothic</vt:lpstr>
      <vt:lpstr>Vapor Trail</vt:lpstr>
      <vt:lpstr>OOP ANALYSIS(LSM)</vt:lpstr>
      <vt:lpstr>1.INTRODUCTION </vt:lpstr>
      <vt:lpstr>2.PROBLEM STATEMENT </vt:lpstr>
      <vt:lpstr>3.OBJECTIVES </vt:lpstr>
      <vt:lpstr>4.SYSTEM REQUIREMENTS</vt:lpstr>
      <vt:lpstr>LECTURER MODULE </vt:lpstr>
      <vt:lpstr>STUDENT MODULE</vt:lpstr>
      <vt:lpstr>LSM</vt:lpstr>
      <vt:lpstr>STUDENT PORTAL</vt:lpstr>
      <vt:lpstr>5.NON-FUCTIONAL REQUIREMENTS</vt:lpstr>
      <vt:lpstr>6.ACTORS</vt:lpstr>
      <vt:lpstr>7.IDENTIFIED OBJECTIVES</vt:lpstr>
      <vt:lpstr>8.USE CASES</vt:lpstr>
      <vt:lpstr>STUDENT CASES</vt:lpstr>
      <vt:lpstr>LECTURE USE CASES</vt:lpstr>
      <vt:lpstr>ADMINISTRATOR USE CASES</vt:lpstr>
      <vt:lpstr>9. ASSUMPTIONS</vt:lpstr>
      <vt:lpstr>10. CONCLUSION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user</dc:creator>
  <cp:lastModifiedBy>user</cp:lastModifiedBy>
  <cp:revision>6</cp:revision>
  <dcterms:created xsi:type="dcterms:W3CDTF">2026-07-30T06:27:36Z</dcterms:created>
  <dcterms:modified xsi:type="dcterms:W3CDTF">2026-07-30T10:28:44Z</dcterms:modified>
</cp:coreProperties>
</file>